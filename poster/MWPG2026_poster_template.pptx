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958" y="-36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9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20116800" cy="2043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7828"/>
              </a:lnSpc>
              <a:spcBef>
                <a:spcPts val="0"/>
              </a:spcBef>
              <a:spcAft>
                <a:spcPts val="1440"/>
              </a:spcAft>
            </a:pPr>
            <a:r>
              <a:rPr sz="7600" b="1" i="0">
                <a:solidFill>
                  <a:srgbClr val="1E242B"/>
                </a:solidFill>
                <a:latin typeface="Inter"/>
              </a:rPr>
              <a:t>Measured Fitness Variance Is Too Weak to Explain the Missing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30728"/>
            <a:ext cx="20116800" cy="109143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4514"/>
              </a:lnSpc>
              <a:spcBef>
                <a:spcPts val="0"/>
              </a:spcBef>
              <a:spcAft>
                <a:spcPts val="720"/>
              </a:spcAft>
            </a:pPr>
            <a:r>
              <a:rPr sz="3700" b="1" i="0" dirty="0">
                <a:solidFill>
                  <a:srgbClr val="1E242B"/>
                </a:solidFill>
                <a:latin typeface="Inter"/>
              </a:rPr>
              <a:t>Walid Mawass</a:t>
            </a:r>
          </a:p>
          <a:p>
            <a:pPr algn="ctr">
              <a:lnSpc>
                <a:spcPts val="2928"/>
              </a:lnSpc>
              <a:spcBef>
                <a:spcPts val="0"/>
              </a:spcBef>
              <a:spcAft>
                <a:spcPts val="720"/>
              </a:spcAft>
            </a:pPr>
            <a:r>
              <a:rPr lang="en-US" sz="2400" b="0" i="0" dirty="0">
                <a:solidFill>
                  <a:srgbClr val="2C4A6F"/>
                </a:solidFill>
                <a:latin typeface="Source Sans 3"/>
              </a:rPr>
              <a:t>Human Genetics Department</a:t>
            </a:r>
            <a:r>
              <a:rPr sz="2400" b="0" i="0" dirty="0">
                <a:solidFill>
                  <a:srgbClr val="2C4A6F"/>
                </a:solidFill>
                <a:latin typeface="Source Sans 3"/>
              </a:rPr>
              <a:t>  ·  University of Chicago  ·  mawass@uchicago.edu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59910"/>
            <a:ext cx="20116800" cy="3206496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4359910"/>
            <a:ext cx="201168" cy="3206496"/>
          </a:xfrm>
          <a:prstGeom prst="rect">
            <a:avLst/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408176" y="4634230"/>
            <a:ext cx="19330416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320">
                <a:solidFill>
                  <a:srgbClr val="2C4A6F"/>
                </a:solidFill>
                <a:latin typeface="Inter"/>
              </a:rPr>
              <a:t>THE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8176" y="5125466"/>
            <a:ext cx="19330416" cy="16093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1440"/>
              </a:spcAft>
            </a:pPr>
            <a:r>
              <a:rPr sz="3400" b="1" i="0" dirty="0">
                <a:solidFill>
                  <a:srgbClr val="C85227"/>
                </a:solidFill>
                <a:latin typeface="Inter"/>
              </a:rPr>
              <a:t>Heritable variance in fitness erodes neutral diversity, and a pedigree measures that variance without touching a single base. The 19 published estimates remove at most twentyfold of it. The deficit these species carry runs far deeper.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6917690"/>
            <a:ext cx="19330416" cy="4841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80"/>
              </a:lnSpc>
              <a:spcBef>
                <a:spcPts val="0"/>
              </a:spcBef>
              <a:spcAft>
                <a:spcPts val="1440"/>
              </a:spcAft>
            </a:pPr>
            <a:r>
              <a:rPr sz="2600" b="0" i="0" dirty="0">
                <a:solidFill>
                  <a:srgbClr val="1E242B"/>
                </a:solidFill>
                <a:latin typeface="Source Sans 3"/>
              </a:rPr>
              <a:t>Diversity also sets an </a:t>
            </a:r>
            <a:r>
              <a:rPr sz="2600" b="1" i="0" dirty="0">
                <a:solidFill>
                  <a:srgbClr val="1E242B"/>
                </a:solidFill>
                <a:latin typeface="Source Sans 3"/>
              </a:rPr>
              <a:t>upper limit</a:t>
            </a:r>
            <a:r>
              <a:rPr sz="2600" b="0" i="0" dirty="0">
                <a:solidFill>
                  <a:srgbClr val="1E242B"/>
                </a:solidFill>
                <a:latin typeface="Source Sans 3"/>
              </a:rPr>
              <a:t> on sustained fitness variance. Every value reported so far stays under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7932166"/>
            <a:ext cx="9784080" cy="8011858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207008" y="8224774"/>
            <a:ext cx="9198863" cy="50292"/>
          </a:xfrm>
          <a:prstGeom prst="rect">
            <a:avLst/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207008" y="8480806"/>
            <a:ext cx="621792" cy="621792"/>
          </a:xfrm>
          <a:prstGeom prst="roundRect">
            <a:avLst>
              <a:gd name="adj" fmla="val 16000"/>
            </a:avLst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848080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Inter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8480806"/>
            <a:ext cx="83210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42B"/>
                </a:solidFill>
                <a:latin typeface="Inter"/>
              </a:rPr>
              <a:t>Diversity erodes without linkage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07008" y="9376918"/>
            <a:ext cx="5015484" cy="1186433"/>
          </a:xfrm>
          <a:prstGeom prst="rect">
            <a:avLst/>
          </a:prstGeom>
          <a:solidFill>
            <a:srgbClr val="F4F6F9"/>
          </a:solidFill>
          <a:ln w="1587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1671" y="9376918"/>
            <a:ext cx="4824831" cy="1438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 dirty="0">
                <a:solidFill>
                  <a:srgbClr val="2C4A6F"/>
                </a:solidFill>
                <a:latin typeface="Latin Modern Math"/>
              </a:rPr>
              <a:t>N</a:t>
            </a:r>
            <a:r>
              <a:rPr sz="3400" b="0" i="0" baseline="-25000" dirty="0">
                <a:solidFill>
                  <a:srgbClr val="2C4A6F"/>
                </a:solidFill>
                <a:latin typeface="Latin Modern Math"/>
              </a:rPr>
              <a:t>e</a:t>
            </a:r>
            <a:r>
              <a:rPr sz="3400" b="0" i="0" dirty="0">
                <a:solidFill>
                  <a:srgbClr val="2C4A6F"/>
                </a:solidFill>
                <a:latin typeface="Latin Modern Math"/>
              </a:rPr>
              <a:t>/N  =  1 / (1 + 4κV</a:t>
            </a:r>
            <a:r>
              <a:rPr sz="3400" b="0" i="0" baseline="-25000" dirty="0">
                <a:solidFill>
                  <a:srgbClr val="2C4A6F"/>
                </a:solidFill>
                <a:latin typeface="Latin Modern Math"/>
              </a:rPr>
              <a:t>A</a:t>
            </a:r>
            <a:r>
              <a:rPr sz="3400" b="0" i="0" dirty="0">
                <a:solidFill>
                  <a:srgbClr val="2C4A6F"/>
                </a:solidFill>
                <a:latin typeface="Latin Modern Math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10746231"/>
            <a:ext cx="4814316" cy="37726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75"/>
              </a:lnSpc>
              <a:spcBef>
                <a:spcPts val="0"/>
              </a:spcBef>
              <a:spcAft>
                <a:spcPts val="1440"/>
              </a:spcAft>
            </a:pPr>
            <a:r>
              <a:rPr sz="2500" b="0" i="0" dirty="0">
                <a:solidFill>
                  <a:srgbClr val="1E242B"/>
                </a:solidFill>
                <a:latin typeface="Source Sans 3"/>
              </a:rPr>
              <a:t>Because a neutral site's association with its background halves each generation rather than vanishing, heritable differences in offspring number erode diversity under free recombination. </a:t>
            </a:r>
            <a:r>
              <a:rPr sz="2500" b="1" i="0" dirty="0">
                <a:solidFill>
                  <a:srgbClr val="1E242B"/>
                </a:solidFill>
                <a:latin typeface="Source Sans 3"/>
              </a:rPr>
              <a:t>No linkage map, no annotation, no equilibrium assumption.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" y="14643292"/>
            <a:ext cx="128016" cy="928115"/>
          </a:xfrm>
          <a:prstGeom prst="rect">
            <a:avLst/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54480" y="14643292"/>
            <a:ext cx="4395063" cy="9281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85227"/>
                </a:solidFill>
                <a:latin typeface="Inter"/>
              </a:rPr>
              <a:t>At most 3×; 1.4× at the median</a:t>
            </a:r>
          </a:p>
        </p:txBody>
      </p:sp>
      <p:pic>
        <p:nvPicPr>
          <p:cNvPr id="20" name="Picture 19" descr="panel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460" y="9376918"/>
            <a:ext cx="4270249" cy="533450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05092" y="14947328"/>
            <a:ext cx="4373271" cy="12252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30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6B7280"/>
                </a:solidFill>
                <a:latin typeface="Source Sans 3"/>
              </a:rPr>
              <a:t>Fig. A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· Diversity kept, against no selection at the same census size (log). Dashed: 1. Dotted: 0.1. </a:t>
            </a:r>
            <a:r>
              <a:rPr sz="1800" b="1" i="0" dirty="0">
                <a:solidFill>
                  <a:srgbClr val="6B7280"/>
                </a:solidFill>
                <a:latin typeface="Source Sans 3"/>
              </a:rPr>
              <a:t>No input is calibrated on diversity.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6309784"/>
            <a:ext cx="9784080" cy="8011858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207008" y="16602392"/>
            <a:ext cx="9198863" cy="50292"/>
          </a:xfrm>
          <a:prstGeom prst="rect">
            <a:avLst/>
          </a:prstGeom>
          <a:solidFill>
            <a:srgbClr val="4D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207008" y="16858424"/>
            <a:ext cx="621792" cy="621792"/>
          </a:xfrm>
          <a:prstGeom prst="roundRect">
            <a:avLst>
              <a:gd name="adj" fmla="val 16000"/>
            </a:avLst>
          </a:prstGeom>
          <a:solidFill>
            <a:srgbClr val="4D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7008" y="168584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Inter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2" y="16858424"/>
            <a:ext cx="83210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42B"/>
                </a:solidFill>
                <a:latin typeface="Inter"/>
              </a:rPr>
              <a:t>Diversity sets the upper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17754536"/>
            <a:ext cx="9426701" cy="1366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42"/>
              </a:lnSpc>
              <a:spcBef>
                <a:spcPts val="0"/>
              </a:spcBef>
              <a:spcAft>
                <a:spcPts val="1440"/>
              </a:spcAft>
            </a:pPr>
            <a:r>
              <a:rPr sz="2550" b="0" i="0" dirty="0">
                <a:solidFill>
                  <a:srgbClr val="1E242B"/>
                </a:solidFill>
                <a:latin typeface="Source Sans 3"/>
              </a:rPr>
              <a:t>Inverting the same expression gives that limit: </a:t>
            </a:r>
            <a:r>
              <a:rPr sz="2550" b="1" i="0" dirty="0" err="1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sz="2550" b="1" i="0" baseline="-25000" dirty="0" err="1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A,max</a:t>
            </a:r>
            <a:r>
              <a:rPr sz="2550" b="1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 = (1−δ)/(4κδ)</a:t>
            </a:r>
            <a:r>
              <a:rPr sz="2550" b="0" i="0" dirty="0">
                <a:solidFill>
                  <a:srgbClr val="1E242B"/>
                </a:solidFill>
                <a:latin typeface="Source Sans 3"/>
              </a:rPr>
              <a:t>, where </a:t>
            </a:r>
            <a:r>
              <a:rPr sz="2550" b="1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δ</a:t>
            </a:r>
            <a:r>
              <a:rPr sz="2550" b="1" i="0" dirty="0">
                <a:solidFill>
                  <a:srgbClr val="1E242B"/>
                </a:solidFill>
                <a:latin typeface="Source Sans 3"/>
              </a:rPr>
              <a:t> is the fraction of neutral diversity still standing</a:t>
            </a:r>
            <a:r>
              <a:rPr sz="2550" b="0" i="0" dirty="0">
                <a:solidFill>
                  <a:srgbClr val="1E242B"/>
                </a:solidFill>
                <a:latin typeface="Source Sans 3"/>
              </a:rPr>
              <a:t>. Any estimate of fitness variance has to come in under it.</a:t>
            </a:r>
          </a:p>
        </p:txBody>
      </p:sp>
      <p:pic>
        <p:nvPicPr>
          <p:cNvPr id="28" name="Picture 27" descr="panel_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98" y="19340449"/>
            <a:ext cx="9526725" cy="2822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07008" y="22586569"/>
            <a:ext cx="9198863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304"/>
              </a:lnSpc>
            </a:pPr>
            <a:r>
              <a:rPr sz="1800" b="1" i="0" dirty="0">
                <a:solidFill>
                  <a:srgbClr val="6B7280"/>
                </a:solidFill>
                <a:latin typeface="Source Sans 3"/>
              </a:rPr>
              <a:t>Fig. B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· Curves: the largest </a:t>
            </a:r>
            <a:r>
              <a:rPr sz="1800" b="0" i="0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sz="1800" b="0" i="0" baseline="-25000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each mating system allows, with N the number of breeding adults. Rust: reported pedigree </a:t>
            </a:r>
            <a:r>
              <a:rPr lang="en-US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lang="en-US" baseline="-25000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, quartiles and one tick per population (n = 19).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25296" y="23531773"/>
            <a:ext cx="128016" cy="517834"/>
          </a:xfrm>
          <a:prstGeom prst="rect">
            <a:avLst/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572768" y="23531773"/>
            <a:ext cx="8851391" cy="51783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357"/>
              </a:lnSpc>
              <a:spcBef>
                <a:spcPts val="0"/>
              </a:spcBef>
              <a:spcAft>
                <a:spcPts val="0"/>
              </a:spcAft>
            </a:pPr>
            <a:r>
              <a:rPr sz="2752" b="1" i="0">
                <a:solidFill>
                  <a:srgbClr val="C85227"/>
                </a:solidFill>
                <a:latin typeface="Inter"/>
              </a:rPr>
              <a:t>At δ = 0.1 the limit is 2.25; nothing reaches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47119" y="7932166"/>
            <a:ext cx="9784080" cy="8011858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539728" y="8224774"/>
            <a:ext cx="9198863" cy="50292"/>
          </a:xfrm>
          <a:prstGeom prst="rect">
            <a:avLst/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1539728" y="8480806"/>
            <a:ext cx="621792" cy="621792"/>
          </a:xfrm>
          <a:prstGeom prst="roundRect">
            <a:avLst>
              <a:gd name="adj" fmla="val 16000"/>
            </a:avLst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539728" y="848080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Inter"/>
              </a:rPr>
              <a:t>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17551" y="8480806"/>
            <a:ext cx="524002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42B"/>
                </a:solidFill>
                <a:latin typeface="Inter"/>
              </a:rPr>
              <a:t>Linkage only tightens 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13604" y="8516874"/>
            <a:ext cx="2824988" cy="549656"/>
          </a:xfrm>
          <a:prstGeom prst="rect">
            <a:avLst/>
          </a:prstGeom>
          <a:solidFill>
            <a:srgbClr val="F4F6F9"/>
          </a:solidFill>
          <a:ln w="15875">
            <a:solidFill>
              <a:srgbClr val="DD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7913604" y="8516874"/>
            <a:ext cx="2824988" cy="5496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4A6F"/>
                </a:solidFill>
                <a:latin typeface="Inter"/>
              </a:rPr>
              <a:t>MAP-DEPENDENT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39728" y="9376918"/>
            <a:ext cx="9198863" cy="18036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442"/>
              </a:lnSpc>
              <a:spcBef>
                <a:spcPts val="0"/>
              </a:spcBef>
              <a:spcAft>
                <a:spcPts val="1296"/>
              </a:spcAft>
            </a:pPr>
            <a:r>
              <a:rPr sz="2550" b="0" i="0" dirty="0">
                <a:solidFill>
                  <a:srgbClr val="1E242B"/>
                </a:solidFill>
                <a:latin typeface="Source Sans 3"/>
              </a:rPr>
              <a:t>Near a selected site that association survives far longer than one generation of recombination allows. Adding recombination maps and functional target sizes at the chromosome level only tightens the estimate: </a:t>
            </a:r>
            <a:r>
              <a:rPr sz="2550" b="1" i="0" dirty="0">
                <a:solidFill>
                  <a:srgbClr val="1E242B"/>
                </a:solidFill>
                <a:latin typeface="Source Sans 3"/>
              </a:rPr>
              <a:t>a further 1.2 to 10×</a:t>
            </a:r>
            <a:r>
              <a:rPr sz="2550" b="0" i="0" dirty="0">
                <a:solidFill>
                  <a:srgbClr val="1E242B"/>
                </a:solidFill>
                <a:latin typeface="Source Sans 3"/>
              </a:rPr>
              <a:t>.</a:t>
            </a:r>
          </a:p>
        </p:txBody>
      </p:sp>
      <p:pic>
        <p:nvPicPr>
          <p:cNvPr id="40" name="Picture 39" descr="panel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0" y="11168056"/>
            <a:ext cx="6792686" cy="38800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/>
              <p:cNvSpPr txBox="1"/>
              <p:nvPr/>
            </p:nvSpPr>
            <p:spPr>
              <a:xfrm>
                <a:off x="11539728" y="15066200"/>
                <a:ext cx="9198863" cy="64008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>
                  <a:lnSpc>
                    <a:spcPts val="2304"/>
                  </a:lnSpc>
                </a:pPr>
                <a:r>
                  <a:rPr sz="1800" b="1" i="0" dirty="0">
                    <a:solidFill>
                      <a:srgbClr val="6B7280"/>
                    </a:solidFill>
                    <a:latin typeface="Source Sans 3"/>
                  </a:rPr>
                  <a:t>Fig. C</a:t>
                </a:r>
                <a:r>
                  <a:rPr sz="1800" b="0" i="0" dirty="0">
                    <a:solidFill>
                      <a:srgbClr val="6B7280"/>
                    </a:solidFill>
                    <a:latin typeface="Source Sans 3"/>
                  </a:rPr>
                  <a:t> · (left) Diversity kept with the linked term, across the 95% interval on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6B728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sz="1800" b="0" i="0" dirty="0">
                    <a:solidFill>
                      <a:srgbClr val="6B7280"/>
                    </a:solidFill>
                    <a:latin typeface="Source Sans 3"/>
                  </a:rPr>
                  <a:t>. (right) Genome-wide linkage penalty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l-GR" sz="1800" b="0" i="1" dirty="0" smtClean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l-GR" dirty="0">
                            <a:solidFill>
                              <a:srgbClr val="6B728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acc>
                  </m:oMath>
                </a14:m>
                <a:r>
                  <a:rPr lang="el-GR" sz="1800" b="0" i="0" dirty="0">
                    <a:solidFill>
                      <a:srgbClr val="6B7280"/>
                    </a:solidFill>
                    <a:latin typeface="Source Sans 3"/>
                  </a:rPr>
                  <a:t>.</a:t>
                </a:r>
                <a:r>
                  <a:rPr sz="1800" b="0" i="0" dirty="0">
                    <a:solidFill>
                      <a:srgbClr val="6B7280"/>
                    </a:solidFill>
                    <a:latin typeface="Source Sans 3"/>
                  </a:rPr>
                  <a:t> Needs maps and annotations; Panel A needs neither.</a:t>
                </a:r>
              </a:p>
            </p:txBody>
          </p:sp>
        </mc:Choice>
        <mc:Fallback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9728" y="15066200"/>
                <a:ext cx="9198863" cy="640080"/>
              </a:xfrm>
              <a:prstGeom prst="rect">
                <a:avLst/>
              </a:prstGeom>
              <a:blipFill>
                <a:blip r:embed="rId5"/>
                <a:stretch>
                  <a:fillRect l="-1524" t="-9524" b="-152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/>
          <p:cNvSpPr/>
          <p:nvPr/>
        </p:nvSpPr>
        <p:spPr>
          <a:xfrm>
            <a:off x="11247119" y="16309784"/>
            <a:ext cx="9784080" cy="8011858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539728" y="16602392"/>
            <a:ext cx="9198863" cy="50292"/>
          </a:xfrm>
          <a:prstGeom prst="rect">
            <a:avLst/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1539728" y="16858424"/>
            <a:ext cx="621792" cy="621792"/>
          </a:xfrm>
          <a:prstGeom prst="roundRect">
            <a:avLst>
              <a:gd name="adj" fmla="val 16000"/>
            </a:avLst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539728" y="168584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Inter"/>
              </a:rPr>
              <a:t>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17551" y="16858424"/>
            <a:ext cx="8321040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672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E242B"/>
                </a:solidFill>
                <a:latin typeface="Inter"/>
              </a:rPr>
              <a:t>Far short of the missing diversity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9728" y="17754536"/>
            <a:ext cx="4742535" cy="38039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1440"/>
              </a:spcAft>
            </a:pPr>
            <a:r>
              <a:rPr sz="2600" b="0" i="0" dirty="0">
                <a:solidFill>
                  <a:srgbClr val="1E242B"/>
                </a:solidFill>
                <a:latin typeface="Source Sans 3"/>
              </a:rPr>
              <a:t>Even counting </a:t>
            </a:r>
            <a:r>
              <a:rPr sz="2600" b="1" i="0" dirty="0">
                <a:solidFill>
                  <a:srgbClr val="1E242B"/>
                </a:solidFill>
                <a:latin typeface="Source Sans 3"/>
              </a:rPr>
              <a:t>all</a:t>
            </a:r>
            <a:r>
              <a:rPr sz="2600" b="0" i="0" dirty="0">
                <a:solidFill>
                  <a:srgbClr val="1E242B"/>
                </a:solidFill>
                <a:latin typeface="Source Sans 3"/>
              </a:rPr>
              <a:t> of the reported </a:t>
            </a:r>
            <a:r>
              <a:rPr sz="2600" b="0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sz="2600" b="0" i="0" baseline="-2500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2600" b="0" i="0" dirty="0">
                <a:solidFill>
                  <a:srgbClr val="1E242B"/>
                </a:solidFill>
                <a:latin typeface="Source Sans 3"/>
              </a:rPr>
              <a:t> as sustained, the prediction stays above the diversity these populations actually keep. Counting less of it widens the gap rather than closing it.</a:t>
            </a:r>
          </a:p>
          <a:p>
            <a:pPr algn="l">
              <a:lnSpc>
                <a:spcPts val="3510"/>
              </a:lnSpc>
              <a:spcBef>
                <a:spcPts val="0"/>
              </a:spcBef>
              <a:spcAft>
                <a:spcPts val="1440"/>
              </a:spcAft>
            </a:pPr>
            <a:r>
              <a:rPr sz="2600" b="0" i="0" dirty="0">
                <a:solidFill>
                  <a:srgbClr val="1E242B"/>
                </a:solidFill>
                <a:latin typeface="Source Sans 3"/>
              </a:rPr>
              <a:t>Whatever is depleting their diversity, </a:t>
            </a:r>
            <a:r>
              <a:rPr sz="2600" b="1" i="0" dirty="0">
                <a:solidFill>
                  <a:srgbClr val="1E242B"/>
                </a:solidFill>
                <a:latin typeface="Source Sans 3"/>
              </a:rPr>
              <a:t>this is not it</a:t>
            </a:r>
            <a:r>
              <a:rPr sz="2600" b="0" i="0" dirty="0">
                <a:solidFill>
                  <a:srgbClr val="1E242B"/>
                </a:solidFill>
                <a:latin typeface="Source Sans 3"/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539728" y="21832760"/>
            <a:ext cx="128016" cy="1083056"/>
          </a:xfrm>
          <a:prstGeom prst="rect">
            <a:avLst/>
          </a:prstGeom>
          <a:solidFill>
            <a:srgbClr val="C85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887200" y="21832760"/>
            <a:ext cx="4395063" cy="10830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3904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85227"/>
                </a:solidFill>
                <a:latin typeface="Inter"/>
              </a:rPr>
              <a:t>The gap widens.
It does not close.</a:t>
            </a:r>
          </a:p>
        </p:txBody>
      </p:sp>
      <p:pic>
        <p:nvPicPr>
          <p:cNvPr id="50" name="Picture 49" descr="panel_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43528" y="17754535"/>
            <a:ext cx="4395064" cy="549140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6593159" y="23299798"/>
            <a:ext cx="4145432" cy="9326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ts val="2304"/>
              </a:lnSpc>
            </a:pPr>
            <a:r>
              <a:rPr sz="1800" b="1" i="0" dirty="0">
                <a:solidFill>
                  <a:srgbClr val="6B7280"/>
                </a:solidFill>
                <a:latin typeface="Source Sans 3"/>
              </a:rPr>
              <a:t>Fig. D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· Diversity kept when 100 / 50 / 25 / 10% of reported </a:t>
            </a:r>
            <a:r>
              <a:rPr lang="en-US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lang="en-US" baseline="-25000" dirty="0">
                <a:solidFill>
                  <a:srgbClr val="6B7280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is counted as sustained.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24687403"/>
            <a:ext cx="20116800" cy="6402197"/>
          </a:xfrm>
          <a:prstGeom prst="rect">
            <a:avLst/>
          </a:prstGeom>
          <a:solidFill>
            <a:srgbClr val="FFFFFF"/>
          </a:solidFill>
          <a:ln w="222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14400" y="24687403"/>
            <a:ext cx="20116800" cy="50292"/>
          </a:xfrm>
          <a:prstGeom prst="rect">
            <a:avLst/>
          </a:prstGeom>
          <a:solidFill>
            <a:srgbClr val="1E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07008" y="24980011"/>
            <a:ext cx="19531584" cy="5535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927"/>
              </a:lnSpc>
              <a:spcBef>
                <a:spcPts val="0"/>
              </a:spcBef>
              <a:spcAft>
                <a:spcPts val="1440"/>
              </a:spcAft>
            </a:pPr>
            <a:r>
              <a:rPr sz="3570" b="1" i="0" dirty="0">
                <a:solidFill>
                  <a:srgbClr val="1E242B"/>
                </a:solidFill>
                <a:latin typeface="Inter"/>
              </a:rPr>
              <a:t>What these models need </a:t>
            </a:r>
            <a:r>
              <a:rPr sz="3570" b="1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sz="3570" b="1" i="0" baseline="-2500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3570" b="1" i="0" dirty="0">
                <a:solidFill>
                  <a:srgbClr val="1E242B"/>
                </a:solidFill>
                <a:latin typeface="Inter"/>
              </a:rPr>
              <a:t> to be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7008" y="25643332"/>
            <a:ext cx="19531584" cy="44978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109"/>
              </a:lnSpc>
              <a:spcBef>
                <a:spcPts val="0"/>
              </a:spcBef>
              <a:spcAft>
                <a:spcPts val="1440"/>
              </a:spcAft>
            </a:pPr>
            <a:r>
              <a:rPr sz="2392" b="0" i="0">
                <a:solidFill>
                  <a:srgbClr val="1E242B"/>
                </a:solidFill>
                <a:latin typeface="Source Sans 3"/>
              </a:rPr>
              <a:t>The calculation above and Fisher's theorem draw on one quantity: </a:t>
            </a:r>
            <a:r>
              <a:rPr sz="2392" b="1" i="0">
                <a:solidFill>
                  <a:srgbClr val="1E242B"/>
                </a:solidFill>
                <a:latin typeface="Source Sans 3"/>
              </a:rPr>
              <a:t>fitness variance that is transmitted and sustained.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07008" y="26458876"/>
            <a:ext cx="5180076" cy="4088926"/>
          </a:xfrm>
          <a:prstGeom prst="rect">
            <a:avLst/>
          </a:prstGeom>
          <a:solidFill>
            <a:srgbClr val="FCFDFD"/>
          </a:solidFill>
          <a:ln w="25400">
            <a:solidFill>
              <a:srgbClr val="2C4A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207008" y="26458876"/>
            <a:ext cx="5180076" cy="869060"/>
          </a:xfrm>
          <a:prstGeom prst="rect">
            <a:avLst/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371600" y="26646657"/>
            <a:ext cx="48508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Inter"/>
              </a:rPr>
              <a:t>WHAT THE EQUATIONS NEED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517904" y="27547392"/>
            <a:ext cx="4558284" cy="182880"/>
          </a:xfrm>
          <a:prstGeom prst="roundRect">
            <a:avLst>
              <a:gd name="adj" fmla="val 50000"/>
            </a:avLst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Oval 59"/>
          <p:cNvSpPr/>
          <p:nvPr/>
        </p:nvSpPr>
        <p:spPr>
          <a:xfrm>
            <a:off x="1572768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31898" y="27501672"/>
            <a:ext cx="274320" cy="274320"/>
          </a:xfrm>
          <a:prstGeom prst="ellipse">
            <a:avLst/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Oval 61"/>
          <p:cNvSpPr/>
          <p:nvPr/>
        </p:nvSpPr>
        <p:spPr>
          <a:xfrm>
            <a:off x="3000756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Oval 62"/>
          <p:cNvSpPr/>
          <p:nvPr/>
        </p:nvSpPr>
        <p:spPr>
          <a:xfrm>
            <a:off x="3714750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Oval 63"/>
          <p:cNvSpPr/>
          <p:nvPr/>
        </p:nvSpPr>
        <p:spPr>
          <a:xfrm>
            <a:off x="4373880" y="27501672"/>
            <a:ext cx="274320" cy="274320"/>
          </a:xfrm>
          <a:prstGeom prst="ellipse">
            <a:avLst/>
          </a:prstGeom>
          <a:solidFill>
            <a:srgbClr val="2C4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Oval 64"/>
          <p:cNvSpPr/>
          <p:nvPr/>
        </p:nvSpPr>
        <p:spPr>
          <a:xfrm>
            <a:off x="5142738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Oval 65"/>
          <p:cNvSpPr/>
          <p:nvPr/>
        </p:nvSpPr>
        <p:spPr>
          <a:xfrm>
            <a:off x="5856732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481328" y="27913152"/>
            <a:ext cx="4631436" cy="3509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331"/>
              </a:lnSpc>
              <a:spcBef>
                <a:spcPts val="0"/>
              </a:spcBef>
              <a:spcAft>
                <a:spcPts val="1440"/>
              </a:spcAft>
            </a:pPr>
            <a:r>
              <a:rPr sz="1879" b="1" i="0">
                <a:solidFill>
                  <a:srgbClr val="2C4A6F"/>
                </a:solidFill>
                <a:latin typeface="Source Sans 3"/>
              </a:rPr>
              <a:t>sustained over many generations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81328" y="28446958"/>
            <a:ext cx="4631436" cy="1474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1440"/>
              </a:spcAft>
            </a:pPr>
            <a:r>
              <a:rPr sz="2184" b="0" i="0">
                <a:solidFill>
                  <a:srgbClr val="1E242B"/>
                </a:solidFill>
                <a:latin typeface="Source Sans 3"/>
              </a:rPr>
              <a:t>Neutral diversity responds only to fitness variance </a:t>
            </a:r>
            <a:r>
              <a:rPr sz="2184" b="1" i="0">
                <a:solidFill>
                  <a:srgbClr val="1E242B"/>
                </a:solidFill>
                <a:latin typeface="Source Sans 3"/>
              </a:rPr>
              <a:t>maintained</a:t>
            </a:r>
            <a:r>
              <a:rPr sz="2184" b="0" i="0">
                <a:solidFill>
                  <a:srgbClr val="1E242B"/>
                </a:solidFill>
                <a:latin typeface="Source Sans 3"/>
              </a:rPr>
              <a:t> over coalescent time. A pedigree gives you a few decades.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1328" y="30086538"/>
            <a:ext cx="4631436" cy="369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1440"/>
              </a:spcAft>
            </a:pPr>
            <a:r>
              <a:rPr sz="2000" b="1" i="0">
                <a:solidFill>
                  <a:srgbClr val="2C4A6F"/>
                </a:solidFill>
                <a:latin typeface="Inter"/>
              </a:rPr>
              <a:t>▸ A pedigree cannot show it.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697980" y="26458876"/>
            <a:ext cx="5180076" cy="4088926"/>
          </a:xfrm>
          <a:prstGeom prst="rect">
            <a:avLst/>
          </a:prstGeom>
          <a:solidFill>
            <a:srgbClr val="FCFDFD"/>
          </a:solidFill>
          <a:ln w="25400">
            <a:solidFill>
              <a:srgbClr val="4D7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6697980" y="26458876"/>
            <a:ext cx="5180076" cy="869060"/>
          </a:xfrm>
          <a:prstGeom prst="rect">
            <a:avLst/>
          </a:prstGeom>
          <a:solidFill>
            <a:srgbClr val="4D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862572" y="26646657"/>
            <a:ext cx="485089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rgbClr val="FFFFFF"/>
                </a:solidFill>
                <a:latin typeface="Inter"/>
              </a:rPr>
              <a:t>A SECOND ROUTE, NO DIVERSITY NEEDED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08876" y="27547392"/>
            <a:ext cx="4558284" cy="182880"/>
          </a:xfrm>
          <a:prstGeom prst="roundRect">
            <a:avLst>
              <a:gd name="adj" fmla="val 50000"/>
            </a:avLst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Oval 73"/>
          <p:cNvSpPr/>
          <p:nvPr/>
        </p:nvSpPr>
        <p:spPr>
          <a:xfrm>
            <a:off x="7063740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Oval 74"/>
          <p:cNvSpPr/>
          <p:nvPr/>
        </p:nvSpPr>
        <p:spPr>
          <a:xfrm>
            <a:off x="7722870" y="27501672"/>
            <a:ext cx="274320" cy="274320"/>
          </a:xfrm>
          <a:prstGeom prst="ellipse">
            <a:avLst/>
          </a:prstGeom>
          <a:solidFill>
            <a:srgbClr val="4D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Oval 75"/>
          <p:cNvSpPr/>
          <p:nvPr/>
        </p:nvSpPr>
        <p:spPr>
          <a:xfrm>
            <a:off x="8491728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Oval 76"/>
          <p:cNvSpPr/>
          <p:nvPr/>
        </p:nvSpPr>
        <p:spPr>
          <a:xfrm>
            <a:off x="9205722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Oval 77"/>
          <p:cNvSpPr/>
          <p:nvPr/>
        </p:nvSpPr>
        <p:spPr>
          <a:xfrm>
            <a:off x="9864852" y="27501672"/>
            <a:ext cx="274320" cy="274320"/>
          </a:xfrm>
          <a:prstGeom prst="ellipse">
            <a:avLst/>
          </a:prstGeom>
          <a:solidFill>
            <a:srgbClr val="4D7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Oval 78"/>
          <p:cNvSpPr/>
          <p:nvPr/>
        </p:nvSpPr>
        <p:spPr>
          <a:xfrm>
            <a:off x="10633710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Oval 79"/>
          <p:cNvSpPr/>
          <p:nvPr/>
        </p:nvSpPr>
        <p:spPr>
          <a:xfrm>
            <a:off x="11347704" y="27556536"/>
            <a:ext cx="164592" cy="164592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972300" y="27913152"/>
            <a:ext cx="4631436" cy="35092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331"/>
              </a:lnSpc>
              <a:spcBef>
                <a:spcPts val="0"/>
              </a:spcBef>
              <a:spcAft>
                <a:spcPts val="1440"/>
              </a:spcAft>
            </a:pPr>
            <a:r>
              <a:rPr sz="1879" b="1" i="0">
                <a:solidFill>
                  <a:srgbClr val="4D7A68"/>
                </a:solidFill>
                <a:latin typeface="Source Sans 3"/>
              </a:rPr>
              <a:t>mutation and selection alone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72300" y="28446958"/>
            <a:ext cx="4631436" cy="14749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795"/>
              </a:lnSpc>
              <a:spcBef>
                <a:spcPts val="0"/>
              </a:spcBef>
              <a:spcAft>
                <a:spcPts val="1440"/>
              </a:spcAft>
            </a:pPr>
            <a:r>
              <a:rPr sz="2184" b="0" i="0">
                <a:solidFill>
                  <a:srgbClr val="1E242B"/>
                </a:solidFill>
                <a:latin typeface="Source Sans 3"/>
              </a:rPr>
              <a:t>Mutation and selection can sustain only so much variance. That route asks the same question with no diversity data, once the scales are reconciled.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972300" y="30086538"/>
            <a:ext cx="4631436" cy="3698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80"/>
              </a:lnSpc>
              <a:spcBef>
                <a:spcPts val="0"/>
              </a:spcBef>
              <a:spcAft>
                <a:spcPts val="1440"/>
              </a:spcAft>
            </a:pPr>
            <a:r>
              <a:rPr sz="2000" b="1" i="0">
                <a:solidFill>
                  <a:srgbClr val="4D7A68"/>
                </a:solidFill>
                <a:latin typeface="Inter"/>
              </a:rPr>
              <a:t>▸ Independent of everything left.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380976" y="26330859"/>
            <a:ext cx="8357615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spc="320">
                <a:solidFill>
                  <a:srgbClr val="2C4A6F"/>
                </a:solidFill>
                <a:latin typeface="Inter"/>
              </a:rPr>
              <a:t>TAKEAWAY FOR THE FIELD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399263" y="26893406"/>
            <a:ext cx="8357615" cy="38203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974"/>
              </a:lnSpc>
              <a:spcBef>
                <a:spcPts val="0"/>
              </a:spcBef>
              <a:spcAft>
                <a:spcPts val="1440"/>
              </a:spcAft>
            </a:pPr>
            <a:r>
              <a:rPr sz="2288" b="0" i="0" dirty="0">
                <a:solidFill>
                  <a:srgbClr val="1E242B"/>
                </a:solidFill>
                <a:latin typeface="Source Sans 3"/>
              </a:rPr>
              <a:t>Any estimate of fitness variance, from a pedigree or from sequence, has to come in under </a:t>
            </a:r>
            <a:r>
              <a:rPr sz="2288" b="0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(1 − δ)/(4κδ)</a:t>
            </a:r>
            <a:r>
              <a:rPr sz="2288" b="0" i="0" dirty="0">
                <a:solidFill>
                  <a:srgbClr val="1E242B"/>
                </a:solidFill>
                <a:latin typeface="Source Sans 3"/>
              </a:rPr>
              <a:t>. </a:t>
            </a:r>
            <a:r>
              <a:rPr sz="2288" b="1" i="0" dirty="0">
                <a:solidFill>
                  <a:srgbClr val="1E242B"/>
                </a:solidFill>
                <a:latin typeface="Source Sans 3"/>
              </a:rPr>
              <a:t>That limit is the reusable part of this.</a:t>
            </a:r>
          </a:p>
          <a:p>
            <a:pPr>
              <a:lnSpc>
                <a:spcPts val="2974"/>
              </a:lnSpc>
              <a:spcAft>
                <a:spcPts val="1440"/>
              </a:spcAft>
            </a:pPr>
            <a:r>
              <a:rPr lang="en-US" sz="2288" dirty="0">
                <a:solidFill>
                  <a:srgbClr val="1E242B"/>
                </a:solidFill>
                <a:latin typeface="Source Sans 3"/>
              </a:rPr>
              <a:t>Diversity-calibrated estimates of linked selection already fell short of Lewontin's paradox. </a:t>
            </a:r>
            <a:r>
              <a:rPr lang="en-US" sz="2288" b="1" dirty="0">
                <a:solidFill>
                  <a:srgbClr val="1E242B"/>
                </a:solidFill>
                <a:latin typeface="Source Sans 3"/>
              </a:rPr>
              <a:t>Twentyfold falls short as well, and none of it came from diversity data.</a:t>
            </a:r>
          </a:p>
          <a:p>
            <a:pPr>
              <a:lnSpc>
                <a:spcPts val="2974"/>
              </a:lnSpc>
              <a:spcAft>
                <a:spcPts val="1440"/>
              </a:spcAft>
            </a:pPr>
            <a:r>
              <a:rPr sz="2288" b="0" i="0" dirty="0">
                <a:solidFill>
                  <a:srgbClr val="1E242B"/>
                </a:solidFill>
                <a:latin typeface="Source Sans 3"/>
              </a:rPr>
              <a:t>Large measured </a:t>
            </a:r>
            <a:r>
              <a:rPr sz="2288" b="0" i="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V</a:t>
            </a:r>
            <a:r>
              <a:rPr sz="2288" b="0" i="0" baseline="-25000" dirty="0">
                <a:solidFill>
                  <a:srgbClr val="1E242B"/>
                </a:solidFill>
                <a:latin typeface="Latin Modern Math" panose="02000503000000000000" pitchFamily="50" charset="0"/>
                <a:ea typeface="Latin Modern Math" panose="02000503000000000000" pitchFamily="50" charset="0"/>
              </a:rPr>
              <a:t>A</a:t>
            </a:r>
            <a:r>
              <a:rPr sz="2288" b="0" i="0" dirty="0">
                <a:solidFill>
                  <a:srgbClr val="1E242B"/>
                </a:solidFill>
                <a:latin typeface="Source Sans 3"/>
              </a:rPr>
              <a:t> gets read as large adaptive potential. Yet that reading needs the variance to persist, and nothing here shows it does — </a:t>
            </a:r>
            <a:r>
              <a:rPr sz="2288" b="1" i="0" dirty="0">
                <a:solidFill>
                  <a:srgbClr val="1E242B"/>
                </a:solidFill>
                <a:latin typeface="Source Sans 3"/>
              </a:rPr>
              <a:t>a discussion point, not a claim.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14400" y="31336488"/>
            <a:ext cx="20116800" cy="32004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914400" y="31501080"/>
            <a:ext cx="1268730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6B7280"/>
                </a:solidFill>
                <a:latin typeface="Source Sans 3"/>
              </a:rPr>
              <a:t>Robertson 1961 · Santiago &amp; Caballero 1995 · Bonnet et al. 2022 · Corbett-</a:t>
            </a:r>
            <a:r>
              <a:rPr sz="1800" b="0" i="0" dirty="0" err="1">
                <a:solidFill>
                  <a:srgbClr val="6B7280"/>
                </a:solidFill>
                <a:latin typeface="Source Sans 3"/>
              </a:rPr>
              <a:t>Detig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 et al. 2015 · Buffalo 2021 · Lewin &amp; Eyre-Walker 2026 </a:t>
            </a:r>
            <a:r>
              <a:rPr lang="en-US" sz="1800" b="0" i="0" dirty="0">
                <a:solidFill>
                  <a:srgbClr val="6B7280"/>
                </a:solidFill>
                <a:latin typeface="Source Sans 3"/>
              </a:rPr>
              <a:t>· </a:t>
            </a:r>
            <a:r>
              <a:rPr sz="1800" b="0" i="0" dirty="0">
                <a:solidFill>
                  <a:srgbClr val="6B7280"/>
                </a:solidFill>
                <a:latin typeface="Source Sans 3"/>
              </a:rPr>
              <a:t>Charlesworth 2026 · Eyre-Walker &amp; Keightley 2007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996159" y="31501080"/>
            <a:ext cx="6035040" cy="5943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dirty="0">
                <a:solidFill>
                  <a:srgbClr val="6B7280"/>
                </a:solidFill>
                <a:latin typeface="Source Sans 3"/>
              </a:rPr>
              <a:t>Midwest Population Genetics Meeting 2026 · University of Chicago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699</Words>
  <Application>Microsoft Office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Cambria Math</vt:lpstr>
      <vt:lpstr>Inter</vt:lpstr>
      <vt:lpstr>Latin Modern Math</vt:lpstr>
      <vt:lpstr>Source Sans 3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Walid Mawass</cp:lastModifiedBy>
  <cp:revision>19</cp:revision>
  <dcterms:created xsi:type="dcterms:W3CDTF">2013-01-27T09:14:16Z</dcterms:created>
  <dcterms:modified xsi:type="dcterms:W3CDTF">2026-08-21T15:00:09Z</dcterms:modified>
  <cp:category/>
</cp:coreProperties>
</file>